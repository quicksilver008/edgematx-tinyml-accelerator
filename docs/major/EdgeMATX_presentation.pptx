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lcommons/tiny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riscv-visualizer-2.vercel.app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tinyml-pcpi-visualizer.vercel.app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ml-pcpi-visualizer.vercel.app" TargetMode="External"/><Relationship Id="rId2" Type="http://schemas.openxmlformats.org/officeDocument/2006/relationships/hyperlink" Target="https://riscv-visualizer-2.vercel.ap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D4FF"/>
                </a:solidFill>
              </a:rPr>
              <a:t>EdgeMATX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Design and Integration of a TinyML Systolic
Accelerator with PicoRV32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37560"/>
            <a:ext cx="7772400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0" i="1">
                <a:solidFill>
                  <a:srgbClr val="90A4B8"/>
                </a:solidFill>
              </a:rPr>
              <a:t>Submitted by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Nishchay Pallav  221EC233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Mohammad Omar Sulemani  221EC230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Md Atib Kaif  221EC129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Under the Guidance of  Dr Rathamala Rao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B8"/>
                </a:solidFill>
              </a:rPr>
              <a:t>Dept. of Electronics &amp; Communication Engineering
National Institute of Technology Karnataka, Surathkal  575025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71600"/>
            <a:ext cx="2743200" cy="41148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155448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0299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51460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C75"/>
                </a:solidFill>
              </a:rPr>
              <a:t>54x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990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Peak Speedup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4747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19/19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950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Tests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4348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</a:rPr>
              <a:t>4x4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910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Systolic Array</a:t>
            </a:r>
          </a:p>
        </p:txBody>
      </p:sp>
      <p:pic>
        <p:nvPicPr>
          <p:cNvPr id="19" name="Picture 18" descr="NITK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1051560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A hardware coprocessor for matrix multiplication on embedded RISC-V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21208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74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800" b="1" i="0">
                <a:solidFill>
                  <a:srgbClr val="00D4FF"/>
                </a:solidFill>
              </a:rPr>
              <a:t>What is EdgeMATX?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FFFFFF"/>
                </a:solidFill>
              </a:rPr>
              <a:t>A custom hardware coprocessor tightly coupled to the open-source PicoRV32 RISC-V processor.  A single custom instruction replaces 64 sequential software operations with 16 fully parallel hardware MACs.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FF6B35"/>
                </a:solidFill>
              </a:rPr>
              <a:t>Why Does It Matter?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  &gt;  TinyML inference on edge devices is dominated by dense matrix operations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  &gt;  General-purpose RISC-V cores execute these sequentially -- very slowly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  &gt;  Purpose-built systolic hardware delivers 38-54x speedup at minimal area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00DC75"/>
                </a:solidFill>
              </a:rPr>
              <a:t>Our Approach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FFFFFF"/>
                </a:solidFill>
              </a:rPr>
              <a:t>One opcode. CPU stalls. 4x4 systolic array fires. Results appear in memory. 673 deterministic cycles -- every time.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FBBF24"/>
                </a:solidFill>
              </a:rPr>
              <a:t>Scope &amp; Status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FFFFFF"/>
                </a:solidFill>
              </a:rPr>
              <a:t>RTL simulation complete. 19/19 tests passing. Two live web visualizers. FPGA deployment upcoming.</a:t>
            </a:r>
          </a:p>
        </p:txBody>
      </p:sp>
      <p:pic>
        <p:nvPicPr>
          <p:cNvPr id="8" name="Picture 7" descr="fig_system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943600" cy="52120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Matrix multiplication is ubiquitous -- and painfully slow on embedded CPUs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Where It's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383280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TinyML Inference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Neural network layers are dense GEMM ops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Digital Signal Proc.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Convolution = repeated matrix multiply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Scientific Computing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Linear solvers, transforms, all matrix ops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Image Processing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Filters, transforms, feature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931920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Sequential CPU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749039" cy="12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749039" cy="2103120"/>
          </a:xfrm>
          <a:prstGeom prst="rect">
            <a:avLst/>
          </a:prstGeom>
          <a:solidFill>
            <a:srgbClr val="080F1E"/>
          </a:solidFill>
          <a:ln w="63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5661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/>
            <a:r>
              <a:rPr sz="1400" b="0" i="0">
                <a:solidFill>
                  <a:srgbClr val="00DC75"/>
                </a:solidFill>
              </a:rPr>
              <a:t>for i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for j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for k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  C[i][j] += A[i][k]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         * B[k][j]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6908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FFFF"/>
                </a:solidFill>
              </a:rPr>
              <a:t>64 multiply-accumulate ops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90A4B8"/>
                </a:solidFill>
              </a:rPr>
              <a:t>executed one at a time</a:t>
            </a:r>
          </a:p>
          <a:p>
            <a:pPr algn="l">
              <a:spcBef>
                <a:spcPts val="300"/>
              </a:spcBef>
            </a:pPr>
            <a:endParaRPr sz="1500" b="0" i="0">
              <a:solidFill>
                <a:srgbClr val="90A4B8"/>
              </a:solidFill>
            </a:endParaRP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4D4D"/>
                </a:solidFill>
              </a:rPr>
              <a:t>RV32I (no MUL):   26,130 cycles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BBF24"/>
                </a:solidFill>
              </a:rPr>
              <a:t>RV32IM (with MUL):  7,975 cycles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234440"/>
            <a:ext cx="3337560" cy="5212080"/>
          </a:xfrm>
          <a:prstGeom prst="rect">
            <a:avLst/>
          </a:prstGeom>
          <a:solidFill>
            <a:srgbClr val="1E2D4F"/>
          </a:solidFill>
          <a:ln w="127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1325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C75"/>
                </a:solidFill>
              </a:rPr>
              <a:t>The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783080"/>
            <a:ext cx="3154680" cy="127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192024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4D4D"/>
                </a:solidFill>
              </a:rPr>
              <a:t>26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688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cycles wasted per
4x4 multiply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5468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7033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sequential
execution on CPU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3891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90A4B8"/>
                </a:solidFill>
              </a:rPr>
              <a:t>0x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93776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hardware
parallelism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Solution: EdgeMATX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A custom PCPI coprocessor tightly coupled to PicoRV32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09728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One custom instruction replaces 64 sequential CPU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Tightly Coupled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18688"/>
            <a:ext cx="347472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PCPI interface: zero memory-mapped overhead. CPU stalls and resumes -- no interrupts, no DMA.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Systolic Datapath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3218688"/>
            <a:ext cx="347472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4x4 array of 16 processing elements. All 16 MACs execute in parallel every clock cycle.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3336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C75"/>
                </a:solidFill>
              </a:rPr>
              <a:t>Q5.10 Fixed-Point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3336" y="3218688"/>
            <a:ext cx="3474720" cy="1016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03336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16-bit signed arithmetic. No floating-point hardware needed -- ideal for constrained silicon.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32120"/>
            <a:ext cx="11430000" cy="777240"/>
          </a:xfrm>
          <a:prstGeom prst="rect">
            <a:avLst/>
          </a:prstGeom>
          <a:solidFill>
            <a:srgbClr val="001A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Deterministic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38.83x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(sparse data)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53.86x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(dense 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11.85x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vs MUL rv32im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Project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Simulation-complete milestone -- all RTL objectives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1344168"/>
            <a:ext cx="822960" cy="292608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441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258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75"/>
                </a:solidFill>
              </a:rPr>
              <a:t>Phase 1: RTL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728216"/>
            <a:ext cx="5440680" cy="1016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85623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4x4 systolic array in Verilog (Q5.10 fixed-point MACs)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PCPI coprocessor wrapper for PicoRV32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Memory-mapped I/O:  A@0x100  B@0x140  C@0x200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9088" y="1344168"/>
            <a:ext cx="822960" cy="292608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3441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3258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Phase 2: Simulation &amp;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1728216"/>
            <a:ext cx="544068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85623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19/19 standalone accelerator tests -- 100% PASS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8/8 CPU integration regression tests -- 100% PASS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Cycle benchmarking: 673 deterministic cycles 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" y="4041648"/>
            <a:ext cx="822960" cy="292608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40416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0233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Phase 3: Tooling &amp;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425696"/>
            <a:ext cx="544068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5537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Two interactive web visualizers deployed on Vercel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Full LaTeX project report submitted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38-54x speedup measured and documented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93192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19088" y="4041648"/>
            <a:ext cx="82296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40416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0233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Phase 4: FPGA Deployment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4425696"/>
            <a:ext cx="5440680" cy="1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5537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0A4B8"/>
                </a:solidFill>
              </a:rPr>
              <a:t>    Synthesize on Pynq-Z2 (Xilinx Zynq-7020)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0A4B8"/>
                </a:solidFill>
              </a:rPr>
              <a:t>    On-board cycle validation and timing closure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0A4B8"/>
                </a:solidFill>
              </a:rPr>
              <a:t>    AXI-BRAM memory interface integration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Firmware  -&gt;  PicoRV32  -&gt;  PCPI  -&gt;  4x4 Systolic Accelerator  -&gt; 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663440" cy="521208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Architecture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443484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434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00DC75"/>
                </a:solidFill>
              </a:rPr>
              <a:t>  Firmware (RISC-V C)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Loads matrices at mapped addresses, issues custom opcode 0x5420818b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00D4FF"/>
                </a:solidFill>
              </a:rPr>
              <a:t>  PicoRV32 CPU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RV32I core, ENABLE_PCPI=1, decodes custom opcode, stalls until pcpi_ready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PCPI Wrapper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Detects instruction, drives systolic engine, asserts pcpi_ready on finish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06AC8"/>
                </a:solidFill>
              </a:rPr>
              <a:t>  4x4 Systolic Array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16 Q5.10 MAC units, output-stationary dataflow, 673 deterministic cycles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BBF24"/>
                </a:solidFill>
              </a:rPr>
              <a:t>  Flat Memory Map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A: 0x100-0x13C   B: 0x140-0x17C   C (result): 0x200-0x23C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234440"/>
            <a:ext cx="6629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inyml_accelerator_detail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6537960" cy="5120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PCPI: The Custom Instruction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Pico Co-Processor Interface -- zero-cost hardware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2788920"/>
          </a:xfrm>
          <a:prstGeom prst="rect">
            <a:avLst/>
          </a:prstGeom>
          <a:solidFill>
            <a:srgbClr val="1421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Interface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029200" cy="1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4FF"/>
                </a:solidFill>
              </a:rPr>
              <a:t>  pcpi_valid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CPU -&gt; CoPro  |  Custom instruction detected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4FF"/>
                </a:solidFill>
              </a:rPr>
              <a:t>  pcpi_insn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CPU -&gt; CoPro  |  Full 32-bit instruction word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4FF"/>
                </a:solidFill>
              </a:rPr>
              <a:t>  pcpi_rs1/2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CPU -&gt; CoPro  |  Source registers (matrix A/B addr)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C75"/>
                </a:solidFill>
              </a:rPr>
              <a:t>  pcpi_ready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CoPro -&gt; CPU  |  Computation done -- CPU resumes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FF6B35"/>
                </a:solidFill>
              </a:rPr>
              <a:t>  pcpi_wr/rd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CoPro -&gt; CPU  |  Write-back flag + result (unused)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90A4B8"/>
                </a:solidFill>
              </a:rPr>
              <a:t>  pcpi_wait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CoPro -&gt; CPU  |  Hold CPU stall (optional)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34440"/>
            <a:ext cx="5943600" cy="2788920"/>
          </a:xfrm>
          <a:prstGeom prst="rect">
            <a:avLst/>
          </a:prstGeom>
          <a:solidFill>
            <a:srgbClr val="1E2D4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Execution Handshake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91640"/>
            <a:ext cx="566928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783080"/>
            <a:ext cx="27432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17830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CPU fetches  0x5420818b  custom opcode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48256"/>
            <a:ext cx="27432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204825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665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pcpi_valid=1, rs1/rs2 broadcast to coprocessor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13432"/>
            <a:ext cx="27432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0760" y="23134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CPU stalls -- awaiting pcpi_ready=1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578608"/>
            <a:ext cx="2743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257860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968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Coprocessor reads matrix A &amp; B from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843784"/>
            <a:ext cx="2743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28437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620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4x4 systolic array computes 16 dot products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108960"/>
            <a:ext cx="2743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31089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272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Results written to matrix C region (0x200-0x23C)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374136"/>
            <a:ext cx="2743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33741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3924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pcpi_ready=1  -- CPU resumes next instruction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11430000" cy="347472"/>
          </a:xfrm>
          <a:prstGeom prst="rect">
            <a:avLst/>
          </a:prstGeom>
          <a:solidFill>
            <a:srgbClr val="080F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41513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Custom opcode:  0x5420818b   (custom-0 space, funct7=0101010, rs2=00000, funct3=000, opcode=0001011)</a:t>
            </a:r>
          </a:p>
        </p:txBody>
      </p:sp>
      <p:pic>
        <p:nvPicPr>
          <p:cNvPr id="36" name="Picture 35" descr="pcpi_integrati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0"/>
            <a:ext cx="11430000" cy="18745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4x4 Systolic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16 parallel Processing Elements -- output-stationary dataflow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pic>
        <p:nvPicPr>
          <p:cNvPr id="6" name="Picture 5" descr="fig_systolic_ar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94360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37960" y="1234440"/>
            <a:ext cx="5470855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325880"/>
            <a:ext cx="5287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737360"/>
            <a:ext cx="5287975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2879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Output-stationary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Each PE accumulates its partial sum for C[i,j] in place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Row broadcast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Row i of matrix A flows right across row i of PEs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Column broadcast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Column j of matrix B flows down column j of PEs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Parallel MACs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All 16 PEs fire simultaneously every clock cycle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Deterministic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673 cycles regardless of operand values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16-bit Q5.10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Multiply -&gt; shift-right 10 -&gt; accumulate -&gt; truncate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Q5.10 Fixed-Point Arithmetic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16-bit two's complement -- integer simplicity, fractional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13232" cy="685800"/>
          </a:xfrm>
          <a:prstGeom prst="rect">
            <a:avLst/>
          </a:prstGeom>
          <a:solidFill>
            <a:srgbClr val="FF4D4D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92224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9222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5456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0545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1868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3192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5152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58384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5838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1616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7161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4848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8484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131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4544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2454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37776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3777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777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51008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35100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100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064240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06424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2286000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D4D"/>
                </a:solidFill>
              </a:rPr>
              <a:t>Sign (1 bit)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2286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</a:rPr>
              <a:t>Integer part  (5 bits)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286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</a:rPr>
              <a:t>Fractional part  (10 bits)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Range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-32.0  to  +31.999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0128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401568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01568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 / 1024  ~  0.001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54496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45936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Format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45936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16-bit signed integer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98864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90304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Scaling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90304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Multiply -&gt; shift right 10 bits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114800"/>
            <a:ext cx="11430000" cy="2103120"/>
          </a:xfrm>
          <a:prstGeom prst="rect">
            <a:avLst/>
          </a:prstGeom>
          <a:solidFill>
            <a:srgbClr val="1E2D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41879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Processing Element MAC Operation  (per clock cycle):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(1) Multiply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a_in x b_in  -&gt;  32-bit signed product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55848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(2) Scale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55848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 &gt;&gt;&gt; 10  (arithmetic right-shift corrects Q5.10)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08776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(3) Accumulate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08776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acc +=  scaled_product  (32-bit running sum)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61704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(4) Pass through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61704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a_out &lt;- a_in  ;  b_out &lt;- b_in  (feed neighbours)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Verification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Four-layer simulation campaign -- unit tests to full system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08176"/>
            <a:ext cx="50292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Layer 4  |  Performance Benchmarking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479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Cycle-count measurement against two software baselines (no-MUL and MUL-equipped).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554480"/>
            <a:ext cx="16916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0" y="159105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673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1088136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670048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877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Layer 3  |  Protocol Handoff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26664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Isolated test of PCPI signal handshake -- pcpi_valid, pcpi_ready, pcpi_insn correctness.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816352"/>
            <a:ext cx="169164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2852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758184"/>
            <a:ext cx="1033272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5840" y="3931920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4962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Layer 2  |  CPU Integration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88536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system simulation: PicoRV32 + PCPI wrapper + accelerator. 8 input profiles.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4078224"/>
            <a:ext cx="169164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41148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8 / 8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020056"/>
            <a:ext cx="978408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0" y="5193792"/>
            <a:ext cx="502920" cy="50292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193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11149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C75"/>
                </a:solidFill>
              </a:rPr>
              <a:t>Layer 1  |  Standalone Unit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550408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Accelerator module in isolation. Zero, identity, dense, boundary, negative-element cases.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5340096"/>
            <a:ext cx="1691640" cy="4572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53766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19 / 19 PASS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Verification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100% pass rate across all test flows -- simulation-complete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474720" cy="5212080"/>
          </a:xfrm>
          <a:prstGeom prst="rect">
            <a:avLst/>
          </a:prstGeom>
          <a:solidFill>
            <a:srgbClr val="002010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DC75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2926080" cy="127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00DC75"/>
                </a:solidFill>
              </a:rPr>
              <a:t>19 / 19  standalone unit tests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00DC75"/>
                </a:solidFill>
              </a:rPr>
              <a:t>8 / 8  integration cases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5 / 5  professor demo cases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PASS  handoff protocol test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PASS  one-command gate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234440"/>
            <a:ext cx="7726679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132588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Test Category Breakdown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37360"/>
            <a:ext cx="740664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96595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Zero / Null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039111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2039111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64240" y="1965959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2/2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58775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Identity Matrix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660903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2660903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64240" y="258775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3/3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09543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Dense (varied magnitudes)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282695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0" y="3282695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64240" y="3209543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8/8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83133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Q5.10 Sign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904487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0" y="3904487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64240" y="383133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4/4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45312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Negative Elements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526279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0" y="4526279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64240" y="4453127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2/2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0749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Integration: varied inputs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148071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0" y="5148071"/>
            <a:ext cx="438912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064240" y="5074919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8/8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69671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Professor Demo Cases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5769863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83680" y="5769863"/>
            <a:ext cx="43891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064240" y="569671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5/5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Performance: Cycle Counts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Deterministic execution -- 673 cycles regardless of input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114800" cy="5212080"/>
          </a:xfrm>
          <a:prstGeom prst="rect">
            <a:avLst/>
          </a:prstGeom>
          <a:solidFill>
            <a:srgbClr val="1E2D4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EdgeMATX Accelerator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 + PCPI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BBF24"/>
                </a:solidFill>
              </a:rPr>
              <a:t>7,975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9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+ MUL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rv32im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9624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D4D"/>
                </a:solidFill>
              </a:rPr>
              <a:t>26,130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714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(no MUL)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640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11496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D4D"/>
                </a:solidFill>
              </a:rPr>
              <a:t>36,246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33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(no MUL, dense)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25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dense input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234440"/>
            <a:ext cx="7223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ycle_cou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80160"/>
            <a:ext cx="7132320" cy="5120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Performance: Speedup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38-54x over rv32i baseline -- 11.85x over MUL-equipped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265176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C75"/>
                </a:solidFill>
              </a:rPr>
              <a:t>38.83x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Sparse  vs  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249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Identity-sequence benchmark
26,130 -&gt; 673 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234440"/>
            <a:ext cx="3749039" cy="265176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3716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4FF"/>
                </a:solidFill>
              </a:rPr>
              <a:t>53.86x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Dense   vs  rv32i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7249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Live dense profile
36,246 -&gt; 673 cycles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1234440"/>
            <a:ext cx="3749039" cy="2651760"/>
          </a:xfrm>
          <a:prstGeom prst="rect">
            <a:avLst/>
          </a:prstGeom>
          <a:solidFill>
            <a:srgbClr val="14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6" y="13716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6B35"/>
                </a:solidFill>
              </a:rPr>
              <a:t>11.85x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Any     vs  rv32im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7249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Even against MUL-equipped core
7,975 -&gt; 673 cycles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11430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peedu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0"/>
            <a:ext cx="11338560" cy="2286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MLPerf Tiny Proxy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Industry-standard framing via MLCommons Tiny Anomaly Detection proxy on PicoRV32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05156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389888"/>
            <a:ext cx="164592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5780" y="1394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0B142A"/>
                </a:solidFill>
              </a:rPr>
              <a:t>MLCommons</a:t>
            </a:r>
            <a:r>
              <a:rPr sz="1300" b="1" i="0" dirty="0">
                <a:solidFill>
                  <a:srgbClr val="0B142A"/>
                </a:solidFill>
              </a:rPr>
              <a:t> Tiny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367587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MLPerf Tiny is the most widely used industry benchmark family for tiny edge-AI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90A4B8"/>
                </a:solidFill>
              </a:rPr>
              <a:t>EdgeMATX</a:t>
            </a:r>
            <a:r>
              <a:rPr sz="1200" b="0" i="0" dirty="0">
                <a:solidFill>
                  <a:srgbClr val="90A4B8"/>
                </a:solidFill>
              </a:rPr>
              <a:t> accelerates the tiled matrix-multiply kernel, so we report an Anomaly Detection proxy run: same mapped workload, same 100 MHz assumption, and a fair three-way comparison across HW, RV32I software, and RV32IM software.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9796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u="sng" dirty="0" err="1">
                <a:solidFill>
                  <a:srgbClr val="FF6B35"/>
                </a:solidFill>
                <a:hlinkClick r:id="rId2"/>
              </a:rPr>
              <a:t>mlcommons</a:t>
            </a:r>
            <a:r>
              <a:rPr sz="1100" b="1" u="sng" dirty="0">
                <a:solidFill>
                  <a:srgbClr val="FF6B35"/>
                </a:solidFill>
                <a:hlinkClick r:id="rId2"/>
              </a:rPr>
              <a:t>/tiny benchmark reference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87168"/>
            <a:ext cx="5074920" cy="3858768"/>
          </a:xfrm>
          <a:prstGeom prst="rect">
            <a:avLst/>
          </a:prstGeom>
          <a:solidFill>
            <a:srgbClr val="1E2D4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5968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Graphical View: Relative Compute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5292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Per 4x4 tile, normalized to HW = 1x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82696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HW Accel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310128"/>
            <a:ext cx="2331720" cy="201168"/>
          </a:xfrm>
          <a:prstGeom prst="rect">
            <a:avLst/>
          </a:prstGeom>
          <a:solidFill>
            <a:srgbClr val="0B142A"/>
          </a:solidFill>
          <a:ln w="63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3310128"/>
            <a:ext cx="128016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2552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D4FF"/>
                </a:solidFill>
              </a:rPr>
              <a:t>1.0x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4930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4B8"/>
                </a:solidFill>
              </a:rPr>
              <a:t>6.00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12394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SW MUL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151376"/>
            <a:ext cx="2331720" cy="201168"/>
          </a:xfrm>
          <a:prstGeom prst="rect">
            <a:avLst/>
          </a:prstGeom>
          <a:solidFill>
            <a:srgbClr val="0B142A"/>
          </a:solidFill>
          <a:ln w="63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28800" y="4151376"/>
            <a:ext cx="711336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40965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BBF24"/>
                </a:solidFill>
              </a:rPr>
              <a:t>68.0x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334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4B8"/>
                </a:solidFill>
              </a:rPr>
              <a:t>408.27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96519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SW no-MUL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4992624"/>
            <a:ext cx="2331720" cy="201168"/>
          </a:xfrm>
          <a:prstGeom prst="rect">
            <a:avLst/>
          </a:prstGeom>
          <a:solidFill>
            <a:srgbClr val="0B142A"/>
          </a:solidFill>
          <a:ln w="63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28800" y="4992624"/>
            <a:ext cx="2331720" cy="2011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0" y="4937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4D4D"/>
                </a:solidFill>
              </a:rPr>
              <a:t>222.9x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175504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4B8"/>
                </a:solidFill>
              </a:rPr>
              <a:t>1337.86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692140"/>
            <a:ext cx="4663440" cy="507492"/>
          </a:xfrm>
          <a:prstGeom prst="rect">
            <a:avLst/>
          </a:prstGeom>
          <a:solidFill>
            <a:srgbClr val="002010"/>
          </a:solidFill>
          <a:ln w="1016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5746444"/>
            <a:ext cx="44131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DC75"/>
                </a:solidFill>
              </a:rPr>
              <a:t>Key takeaway: only the accelerator path meets the &lt;10 </a:t>
            </a:r>
            <a:r>
              <a:rPr sz="1100" b="1" i="0" dirty="0" err="1">
                <a:solidFill>
                  <a:srgbClr val="00DC75"/>
                </a:solidFill>
              </a:rPr>
              <a:t>ms</a:t>
            </a:r>
            <a:r>
              <a:rPr sz="1100" b="1" i="0" dirty="0">
                <a:solidFill>
                  <a:srgbClr val="00DC75"/>
                </a:solidFill>
              </a:rPr>
              <a:t> </a:t>
            </a:r>
            <a:r>
              <a:rPr sz="1100" b="1" i="0" dirty="0" err="1">
                <a:solidFill>
                  <a:srgbClr val="00DC75"/>
                </a:solidFill>
              </a:rPr>
              <a:t>MLPerf</a:t>
            </a:r>
            <a:r>
              <a:rPr sz="1100" b="1" i="0" dirty="0">
                <a:solidFill>
                  <a:srgbClr val="00DC75"/>
                </a:solidFill>
              </a:rPr>
              <a:t> Tiny AD target.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2487168"/>
            <a:ext cx="6172200" cy="3858768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79008" y="25968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Exact Benchmark Numbers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285292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Same benchmark task, same clock, same Q5.10 data format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9008" y="3163824"/>
            <a:ext cx="2907792" cy="310896"/>
          </a:xfrm>
          <a:prstGeom prst="rect">
            <a:avLst/>
          </a:prstGeom>
          <a:solidFill>
            <a:srgbClr val="08101C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79008" y="3209544"/>
            <a:ext cx="2907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Metric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3163824"/>
            <a:ext cx="960120" cy="310896"/>
          </a:xfrm>
          <a:prstGeom prst="rect">
            <a:avLst/>
          </a:prstGeom>
          <a:solidFill>
            <a:srgbClr val="08101C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32520" y="320954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HW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10928" y="3163824"/>
            <a:ext cx="960120" cy="310896"/>
          </a:xfrm>
          <a:prstGeom prst="rect">
            <a:avLst/>
          </a:prstGeom>
          <a:solidFill>
            <a:srgbClr val="08101C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10928" y="320954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SW_I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98480" y="3163824"/>
            <a:ext cx="932688" cy="310896"/>
          </a:xfrm>
          <a:prstGeom prst="rect">
            <a:avLst/>
          </a:prstGeom>
          <a:solidFill>
            <a:srgbClr val="08101C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98480" y="3209544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SW_IM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79008" y="3474720"/>
            <a:ext cx="2907792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06440" y="3515868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Cycles / 4x4 tile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3474720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59952" y="3515868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117.2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8" y="3474720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38360" y="3515868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26130.0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0" y="3474720"/>
            <a:ext cx="932688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25912" y="351586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7974.0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79008" y="3785616"/>
            <a:ext cx="2907792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06440" y="3826764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Speedup vs HW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3785616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59952" y="382676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10928" y="3785616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38360" y="382676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222.9x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0" y="3785616"/>
            <a:ext cx="932688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725912" y="382676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68.0x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79008" y="4096512"/>
            <a:ext cx="2907792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806440" y="4137660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Proxy cycles (32)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32520" y="4096512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59952" y="4137660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10928" y="4096512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38360" y="4137660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836160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0" y="4096512"/>
            <a:ext cx="932688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725912" y="4137660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255168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9008" y="4407408"/>
            <a:ext cx="2907792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806440" y="4448556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</a:rPr>
              <a:t>AD cycles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32520" y="4407408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59952" y="4448556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600320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10928" y="4407408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38360" y="4448556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133785600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98480" y="4407408"/>
            <a:ext cx="932688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725912" y="444855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40826880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9008" y="4718304"/>
            <a:ext cx="2907792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806440" y="4759452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AD ms @ 100 MHz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4718304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59952" y="4759452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6.00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710928" y="4718304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738360" y="4759452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1337.86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98480" y="4718304"/>
            <a:ext cx="932688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725912" y="4759452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408.27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79008" y="5029200"/>
            <a:ext cx="2907792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806440" y="5070348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 target (&lt;10ms)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732520" y="5029200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59952" y="5070348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C75"/>
                </a:solidFill>
              </a:rPr>
              <a:t>MEETS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10928" y="5029200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738360" y="5070348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4D"/>
                </a:solidFill>
              </a:rPr>
              <a:t>EXCEEDS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698480" y="5029200"/>
            <a:ext cx="932688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725912" y="50703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4D"/>
                </a:solidFill>
              </a:rPr>
              <a:t>EXCEEDS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9008" y="5340096"/>
            <a:ext cx="2907792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806440" y="5381244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SW_I / SW_IM benefit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32520" y="5340096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759952" y="538124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10928" y="5340096"/>
            <a:ext cx="960120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738360" y="538124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98480" y="5340096"/>
            <a:ext cx="932688" cy="310896"/>
          </a:xfrm>
          <a:prstGeom prst="rect">
            <a:avLst/>
          </a:prstGeom>
          <a:solidFill>
            <a:srgbClr val="1E2D4F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725912" y="538124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3.3x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79008" y="5650992"/>
            <a:ext cx="2907792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806440" y="5692140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+30% ovhd ms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732520" y="5650992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759952" y="5692140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7.80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10928" y="5650992"/>
            <a:ext cx="960120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738360" y="5692140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1739.21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698480" y="5650992"/>
            <a:ext cx="932688" cy="310896"/>
          </a:xfrm>
          <a:prstGeom prst="rect">
            <a:avLst/>
          </a:prstGeom>
          <a:solidFill>
            <a:srgbClr val="14213E"/>
          </a:solidFill>
          <a:ln w="381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725912" y="5692140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530.75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Interactive Visualizers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Explore the design live in your browser -- click links below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525780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Architecture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0352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03520" cy="411480"/>
          </a:xfrm>
          <a:prstGeom prst="rect">
            <a:avLst/>
          </a:prstGeom>
          <a:solidFill>
            <a:srgbClr val="080F1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4767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u="sng">
                <a:solidFill>
                  <a:srgbClr val="00D4FF"/>
                </a:solidFill>
                <a:hlinkClick r:id="rId2"/>
              </a:rPr>
              <a:t>  riscv-visualizer-2.vercel.app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High-level system architecture and dataflow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Firmware layer  |  PicoRV32  |  PCPI  |  Systolic Array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Step-through execution with annotations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3035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inyml_accelerator_detaile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55848"/>
            <a:ext cx="5266944" cy="27980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234440"/>
            <a:ext cx="5669280" cy="5257800"/>
          </a:xfrm>
          <a:prstGeom prst="rect">
            <a:avLst/>
          </a:prstGeom>
          <a:solidFill>
            <a:srgbClr val="14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Processor Signal 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783080"/>
            <a:ext cx="530352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1874519"/>
            <a:ext cx="5303520" cy="411480"/>
          </a:xfrm>
          <a:prstGeom prst="rect">
            <a:avLst/>
          </a:prstGeom>
          <a:solidFill>
            <a:srgbClr val="080F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94767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u="sng">
                <a:solidFill>
                  <a:srgbClr val="FF6B35"/>
                </a:solidFill>
                <a:hlinkClick r:id="rId4"/>
              </a:rPr>
              <a:t>  tinyml-pcpi-visualizer.vercel.app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957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Instruction decode  |  PCPI signal timeline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Accelerator invocation waveform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Systolic array computation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337560"/>
            <a:ext cx="53035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pcpi_integration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355848"/>
            <a:ext cx="5266944" cy="279806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What's Next: Pynq-Z2 FPGA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Simulation-proven design -&gt; physical hardware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673-cycle verified
behaviour on
Icarus Verilog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0A4B8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2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FPGA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Map to Pynq-Z2
Xilinx Zynq-7020
Post-synthesis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0A4B8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A4B8"/>
                </a:solidFill>
              </a:rPr>
              <a:t>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Scale &amp;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On-board cycle counts
AXI-BRAM memory
8x8 array extension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11430000" cy="1691640"/>
          </a:xfrm>
          <a:prstGeom prst="rect">
            <a:avLst/>
          </a:prstGeom>
          <a:solidFill>
            <a:srgbClr val="1E2D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Open Items Before Hardware 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2180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    Cycle-scaling estimator anchor needs updating (869 -&gt; 673)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    On-board rdcycle CSR measurements to cross-validate simulation results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    AXI-BRAM memory interface replacing software-driven memory reads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Simulation-complete milestone -- all objectives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Hardware 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9656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4x4 systolic array with 16 Q5.10 fixed-point MACs, implemented in Verilog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344168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CPU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19656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Tightly coupled to PicoRV32 via PCPI -- single opcode dispatch, zero overhead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98648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08376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C75"/>
                </a:solidFill>
              </a:rPr>
              <a:t>Deterministic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83864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673-cycle latency, invariant to operand values -- ideal for real-time 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898648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008376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Verified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83864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38.83x - 53.86x speedup over rv32i;  11.85x over MUL-equipped rv32im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62856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672584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6AC8"/>
                </a:solidFill>
              </a:rPr>
              <a:t>100% Test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48072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19/19 standalone  |  8/8 integration  |  5/5 professor demo  |  handoff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562856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4672584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A4B8"/>
                </a:solidFill>
              </a:rPr>
              <a:t>Interactive 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148072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Two live web visualizers for architecture walkthrough and signal-level simulation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4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926080"/>
            <a:ext cx="8534095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0" i="1">
                <a:solidFill>
                  <a:srgbClr val="90A4B8"/>
                </a:solidFill>
              </a:rPr>
              <a:t>Team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Nishchay Pallav  221EC233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Mohammad Omar Sulemani  221EC230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Md Atib Kaif  221EC129</a:t>
            </a:r>
          </a:p>
          <a:p>
            <a:pPr algn="l">
              <a:spcBef>
                <a:spcPts val="600"/>
              </a:spcBef>
            </a:pPr>
            <a:endParaRPr sz="1600" b="1" i="0">
              <a:solidFill>
                <a:srgbClr val="FFFFFF"/>
              </a:solidFill>
            </a:endParaRPr>
          </a:p>
          <a:p>
            <a:pPr algn="l"/>
            <a:r>
              <a:rPr sz="1300" b="0" i="1">
                <a:solidFill>
                  <a:srgbClr val="90A4B8"/>
                </a:solidFill>
              </a:rPr>
              <a:t>Guide:  Dr Rathamala Rao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108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0" i="1">
                <a:solidFill>
                  <a:srgbClr val="90A4B8"/>
                </a:solidFill>
              </a:rPr>
              <a:t>Live Visualizers</a:t>
            </a:r>
          </a:p>
          <a:p>
            <a:pPr>
              <a:spcBef>
                <a:spcPts val="600"/>
              </a:spcBef>
            </a:pPr>
            <a:r>
              <a:rPr sz="1300" u="sng">
                <a:solidFill>
                  <a:srgbClr val="00D4FF"/>
                </a:solidFill>
                <a:hlinkClick r:id="rId2"/>
              </a:rPr>
              <a:t>riscv-visualizer-2.vercel.app</a:t>
            </a:r>
          </a:p>
          <a:p>
            <a:pPr>
              <a:spcBef>
                <a:spcPts val="600"/>
              </a:spcBef>
            </a:pPr>
            <a:r>
              <a:rPr sz="1300" u="sng">
                <a:solidFill>
                  <a:srgbClr val="00D4FF"/>
                </a:solidFill>
                <a:hlinkClick r:id="rId3"/>
              </a:rPr>
              <a:t>tinyml-pcpi-visualizer.vercel.app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Dept. of Electronics &amp; Communication Engineering
National Institute of Technology Karnataka, Surathkal  575025  |  2026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2036</Words>
  <Application>Microsoft Office PowerPoint</Application>
  <PresentationFormat>Widescreen</PresentationFormat>
  <Paragraphs>421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Nishchay Pallav</cp:lastModifiedBy>
  <cp:revision>2</cp:revision>
  <dcterms:created xsi:type="dcterms:W3CDTF">2013-01-27T09:14:16Z</dcterms:created>
  <dcterms:modified xsi:type="dcterms:W3CDTF">2026-03-12T20:26:54Z</dcterms:modified>
  <cp:category/>
</cp:coreProperties>
</file>